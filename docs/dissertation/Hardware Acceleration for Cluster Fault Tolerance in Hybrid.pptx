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4" autoAdjust="0"/>
  </p:normalViewPr>
  <p:slideViewPr>
    <p:cSldViewPr snapToGrid="0" snapToObjects="1">
      <p:cViewPr varScale="1">
        <p:scale>
          <a:sx n="147" d="100"/>
          <a:sy n="147" d="100"/>
        </p:scale>
        <p:origin x="2659" y="10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Hardware Acceleration for Cluster Fault Tolerance in Hybrid CMOS/non-CMOS Memories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Dissertation Defence</a:t>
            </a:r>
            <a:br/>
            <a:br/>
            <a:r>
              <a:t>Yuqi Guo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Motivation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project matters</a:t>
            </a:r>
          </a:p>
          <a:p>
            <a:pPr lvl="0"/>
            <a:r>
              <a:t>Hybrid CMOS/non-CMOS memories offer high density and low cost, but they are vulnerable to </a:t>
            </a:r>
            <a:r>
              <a:rPr b="1"/>
              <a:t>spatially correlated cluster faults</a:t>
            </a:r>
            <a:r>
              <a:t>.</a:t>
            </a:r>
          </a:p>
          <a:p>
            <a:pPr lvl="0"/>
            <a:r>
              <a:t>Traditional ECC schemes are often evaluated for </a:t>
            </a:r>
            <a:r>
              <a:rPr b="1"/>
              <a:t>independent random errors</a:t>
            </a:r>
            <a:r>
              <a:t>, not realistic burst faults.</a:t>
            </a:r>
          </a:p>
          <a:p>
            <a:pPr lvl="0"/>
            <a:r>
              <a:t>Previous studies mainly relied on simulation; </a:t>
            </a:r>
            <a:r>
              <a:rPr b="1"/>
              <a:t>hardware-validated comparison</a:t>
            </a:r>
            <a:r>
              <a:t> was still missing.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marL="0" lvl="0" indent="0">
              <a:buNone/>
            </a:pPr>
            <a:r>
              <a:rPr b="1"/>
              <a:t>Which ECC design gives the best trade-off between fault tolerance, latency, area, power, and storage efficiency on real FPGA hardware?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Project Goal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Project goal</a:t>
            </a:r>
          </a:p>
          <a:p>
            <a:pPr marL="0" lvl="0" indent="0">
              <a:buNone/>
            </a:pPr>
            <a:r>
              <a:t>To design and implement an </a:t>
            </a:r>
            <a:r>
              <a:rPr b="1"/>
              <a:t>FPGA-based hardware acceleration platform</a:t>
            </a:r>
            <a:r>
              <a:t> for fair benchmarking of multiple ECC algorithms under realistic cluster-fault conditions.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marL="342900" lvl="0" indent="-342900">
              <a:buAutoNum type="arabicPeriod"/>
            </a:pPr>
            <a:r>
              <a:t>Implement and compare </a:t>
            </a:r>
            <a:r>
              <a:rPr b="1"/>
              <a:t>6 configurations</a:t>
            </a:r>
            <a:r>
              <a:t>:</a:t>
            </a:r>
          </a:p>
          <a:p>
            <a:pPr lvl="1"/>
            <a:r>
              <a:t>2NRM-RRNS Parallel</a:t>
            </a:r>
          </a:p>
          <a:p>
            <a:pPr lvl="1"/>
            <a:r>
              <a:t>2NRM-RRNS Serial</a:t>
            </a:r>
          </a:p>
          <a:p>
            <a:pPr lvl="1"/>
            <a:r>
              <a:t>3NRM-RRNS</a:t>
            </a:r>
          </a:p>
          <a:p>
            <a:pPr lvl="1"/>
            <a:r>
              <a:t>C-RRNS-MLD</a:t>
            </a:r>
          </a:p>
          <a:p>
            <a:pPr lvl="1"/>
            <a:r>
              <a:t>C-RRNS-MRC</a:t>
            </a:r>
          </a:p>
          <a:p>
            <a:pPr lvl="1"/>
            <a:r>
              <a:t>RS(12,4)</a:t>
            </a:r>
          </a:p>
          <a:p>
            <a:pPr marL="342900" lvl="0" indent="-342900">
              <a:buAutoNum type="arabicPeriod"/>
            </a:pPr>
            <a:r>
              <a:t>Evaluate four key dimensions:</a:t>
            </a:r>
          </a:p>
          <a:p>
            <a:pPr lvl="1"/>
            <a:r>
              <a:t>fault tolerance</a:t>
            </a:r>
          </a:p>
          <a:p>
            <a:pPr lvl="1"/>
            <a:r>
              <a:t>decoding latency</a:t>
            </a:r>
          </a:p>
          <a:p>
            <a:pPr lvl="1"/>
            <a:r>
              <a:t>FPGA resource and power cost</a:t>
            </a:r>
          </a:p>
          <a:p>
            <a:pPr lvl="1"/>
            <a:r>
              <a:t>storage efficiency # 3. Methodology and Experimental Setup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Evaluation flow</a:t>
            </a:r>
          </a:p>
          <a:p>
            <a:pPr lvl="0"/>
            <a:r>
              <a:rPr b="1"/>
              <a:t>Phase 1</a:t>
            </a:r>
            <a:r>
              <a:t>: MATLAB simulation for theoretical baseline.</a:t>
            </a:r>
          </a:p>
          <a:p>
            <a:pPr lvl="0"/>
            <a:r>
              <a:rPr b="1"/>
              <a:t>Phase 2</a:t>
            </a:r>
            <a:r>
              <a:t>: FPGA implementation for hardware validation.</a:t>
            </a:r>
          </a:p>
          <a:p>
            <a:pPr lvl="0"/>
            <a:r>
              <a:t>Same encode-inject-decode-compare loop is used for every configuration.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Test settings</a:t>
            </a:r>
          </a:p>
          <a:p>
            <a:pPr lvl="0"/>
            <a:r>
              <a:t>Device: </a:t>
            </a:r>
            <a:r>
              <a:rPr b="1"/>
              <a:t>Artix-7 xc7a100t (Arty A7-100T)</a:t>
            </a:r>
          </a:p>
          <a:p>
            <a:pPr lvl="0"/>
            <a:r>
              <a:t>Clock: </a:t>
            </a:r>
            <a:r>
              <a:rPr b="1"/>
              <a:t>50 MHz</a:t>
            </a:r>
          </a:p>
          <a:p>
            <a:pPr lvl="0"/>
            <a:r>
              <a:t>Fault modes:</a:t>
            </a:r>
          </a:p>
          <a:p>
            <a:pPr lvl="1"/>
            <a:r>
              <a:t>random single-bit injection</a:t>
            </a:r>
          </a:p>
          <a:p>
            <a:pPr lvl="1"/>
            <a:r>
              <a:t>cluster burst injection with burst length 1-15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FPGA Platform Architecture</a:t>
            </a:r>
          </a:p>
        </p:txBody>
      </p:sp>
      <p:pic>
        <p:nvPicPr>
          <p:cNvPr id="3" name="Picture 1" descr="figure/system_architecture.drawiov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9800" y="1193800"/>
            <a:ext cx="217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Key idea</a:t>
            </a:r>
          </a:p>
          <a:p>
            <a:pPr marL="0" lvl="0" indent="0">
              <a:buNone/>
            </a:pPr>
            <a:r>
              <a:t>The PC controls configuration and visualisation, while the FPGA autonomously performs the full BER sweep and uploads consolidated results through UART.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5. Main Innovation: Probabilistic Fault Injection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t>Uses a </a:t>
            </a:r>
            <a:r>
              <a:rPr b="1"/>
              <a:t>32-bit Galois LFSR</a:t>
            </a:r>
            <a:r>
              <a:t> as the pseudo-random source.</a:t>
            </a:r>
          </a:p>
          <a:p>
            <a:pPr lvl="0"/>
            <a:r>
              <a:t>Supports both </a:t>
            </a:r>
            <a:r>
              <a:rPr b="1"/>
              <a:t>random single-bit</a:t>
            </a:r>
            <a:r>
              <a:t> and </a:t>
            </a:r>
            <a:r>
              <a:rPr b="1"/>
              <a:t>cluster burst</a:t>
            </a:r>
            <a:r>
              <a:t> injection.</a:t>
            </a:r>
          </a:p>
          <a:p>
            <a:pPr lvl="0"/>
            <a:r>
              <a:t>BER is controlled by threshold comparison instead of a fixed schedule.</a:t>
            </a:r>
          </a:p>
          <a:p>
            <a:pPr lvl="0"/>
            <a:r>
              <a:t>Boundary-safe burst masks are precomputed offline and stored in ROM.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marL="0" lvl="0" indent="0">
              <a:buNone/>
            </a:pPr>
            <a:r>
              <a:t>This makes the platform </a:t>
            </a:r>
            <a:r>
              <a:rPr b="1"/>
              <a:t>resource-efficient, reproducible, and reusable</a:t>
            </a:r>
            <a:r>
              <a:t> for benchmarking different ECC algorithms.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Why the Test Platform Is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Advantages of the proposed FPGA test platform</a:t>
            </a:r>
          </a:p>
          <a:p>
            <a:pPr lvl="0"/>
            <a:r>
              <a:rPr b="1"/>
              <a:t>Fair comparison</a:t>
            </a:r>
            <a:r>
              <a:t>: all algorithms share the same test infrastructure and clock condition.</a:t>
            </a:r>
          </a:p>
          <a:p>
            <a:pPr lvl="0"/>
            <a:r>
              <a:rPr b="1"/>
              <a:t>Hardware validated</a:t>
            </a:r>
            <a:r>
              <a:t>: results are measured on a Xilinx Artix-7 FPGA, not simulation alone.</a:t>
            </a:r>
          </a:p>
          <a:p>
            <a:pPr lvl="0"/>
            <a:r>
              <a:rPr b="1"/>
              <a:t>Low overhead fault injection</a:t>
            </a:r>
            <a:r>
              <a:t>: the probabilistic injector uses only </a:t>
            </a:r>
            <a:r>
              <a:rPr b="1"/>
              <a:t>two BRAMs</a:t>
            </a:r>
            <a:r>
              <a:t>.</a:t>
            </a:r>
          </a:p>
          <a:p>
            <a:pPr lvl="0"/>
            <a:r>
              <a:rPr b="1"/>
              <a:t>Scalable experiments</a:t>
            </a:r>
            <a:r>
              <a:t>: supports </a:t>
            </a:r>
            <a:r>
              <a:rPr b="1"/>
              <a:t>101 BER points</a:t>
            </a:r>
            <a:r>
              <a:t> from 0% to 10% and </a:t>
            </a:r>
            <a:r>
              <a:rPr b="1"/>
              <a:t>100,000 samples per point</a:t>
            </a:r>
            <a:r>
              <a:t>.</a:t>
            </a:r>
          </a:p>
          <a:p>
            <a:pPr lvl="0"/>
            <a:r>
              <a:rPr b="1"/>
              <a:t>Extensible architecture</a:t>
            </a:r>
            <a:r>
              <a:t>: new ECCs can be added with the wrapper interface.</a:t>
            </a:r>
          </a:p>
          <a:p>
            <a:pPr lvl="0"/>
            <a:r>
              <a:rPr b="1"/>
              <a:t>Cross-validated</a:t>
            </a:r>
            <a:r>
              <a:t>: FPGA curves closely match MATLAB results, increasing credibility.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Random Single-Bit Results</a:t>
            </a:r>
          </a:p>
        </p:txBody>
      </p:sp>
      <p:pic>
        <p:nvPicPr>
          <p:cNvPr id="3" name="Picture 1" descr="figure/fpga_vs_matlab_random_single_bit_20260407_15515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t>FPGA and MATLAB curves show </a:t>
            </a:r>
            <a:r>
              <a:rPr b="1"/>
              <a:t>close agreement</a:t>
            </a:r>
            <a:r>
              <a:t>.</a:t>
            </a:r>
          </a:p>
          <a:p>
            <a:pPr lvl="0"/>
            <a:r>
              <a:t>Correcting ECCs remain strong at low BER, while </a:t>
            </a:r>
            <a:r>
              <a:rPr b="1"/>
              <a:t>C-RRNS-MRC</a:t>
            </a:r>
            <a:r>
              <a:t> drops fastest.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8. Cluster Burst Results at Representative Length L=12</a:t>
            </a:r>
          </a:p>
        </p:txBody>
      </p:sp>
      <p:pic>
        <p:nvPicPr>
          <p:cNvPr id="3" name="Picture 1" descr="figure/fpga_vs_matlab_cluster_burst_len12_20260407_15515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 b="1"/>
              <a:t>C-RRNS-MLD</a:t>
            </a:r>
            <a:r>
              <a:t> and </a:t>
            </a:r>
            <a:r>
              <a:rPr b="1"/>
              <a:t>RS(12,4)</a:t>
            </a:r>
            <a:r>
              <a:t> show the strongest burst resilience.</a:t>
            </a:r>
          </a:p>
          <a:p>
            <a:pPr lvl="0"/>
            <a:r>
              <a:t>Burst-fault ranking differs from random-bit testing, showing why a realistic fault model is necessary.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E52D3BA-8144-9BF7-4F1E-189E8C838FA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00150"/>
          <a:ext cx="8229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Algo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Burst 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Dec. cycles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C-RRNS-MLD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b="1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928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26.2%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RS(12,4)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33.3%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3NRM-RRNS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33.3%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2NRM-P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b="1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b="1"/>
                        <a:t>39.0%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>
                        <a:buNone/>
                      </a:pPr>
                      <a:r>
                        <a:t>2NRM-S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t>1047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3429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ctr">
                        <a:buNone/>
                      </a:pPr>
                      <a:r>
                        <a:rPr b="1" dirty="0"/>
                        <a:t>39.0%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FE8EAD8-683A-58ED-E646-61CD54A37589}"/>
              </a:ext>
            </a:extLst>
          </p:cNvPr>
          <p:cNvSpPr>
            <a:spLocks noGrp="1"/>
          </p:cNvSpPr>
          <p:nvPr/>
        </p:nvSpPr>
        <p:spPr>
          <a:xfrm>
            <a:off x="238990" y="210416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t>9. Quantitative Comparison of Key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Takeaway</a:t>
            </a:r>
          </a:p>
          <a:p>
            <a:pPr lvl="0"/>
            <a:r>
              <a:rPr b="1"/>
              <a:t>Most reliable</a:t>
            </a:r>
            <a:r>
              <a:t>: C-RRNS-MLD</a:t>
            </a:r>
          </a:p>
          <a:p>
            <a:pPr lvl="0"/>
            <a:r>
              <a:rPr b="1"/>
              <a:t>Fastest</a:t>
            </a:r>
            <a:r>
              <a:t>: 2NRM-P</a:t>
            </a:r>
          </a:p>
          <a:p>
            <a:pPr lvl="0"/>
            <a:r>
              <a:rPr b="1"/>
              <a:t>Most compact</a:t>
            </a:r>
            <a:r>
              <a:t>: 2NRM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10. Latency Comparison</a:t>
            </a:r>
          </a:p>
        </p:txBody>
      </p:sp>
      <p:pic>
        <p:nvPicPr>
          <p:cNvPr id="3" name="Picture 1" descr="figure/latency_comparis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Conclusion from latency results</a:t>
            </a:r>
          </a:p>
          <a:p>
            <a:pPr lvl="0"/>
            <a:r>
              <a:t>The </a:t>
            </a:r>
            <a:r>
              <a:rPr b="1"/>
              <a:t>2NRM-RRNS Parallel</a:t>
            </a:r>
            <a:r>
              <a:t> decoder is the fastest correcting design.</a:t>
            </a:r>
          </a:p>
          <a:p>
            <a:pPr lvl="0"/>
            <a:r>
              <a:t>The parallel implementation achieves a major acceleration over the serial version.</a:t>
            </a:r>
          </a:p>
          <a:p>
            <a:pPr lvl="0"/>
            <a:r>
              <a:t>The result clearly exposes the </a:t>
            </a:r>
            <a:r>
              <a:rPr b="1"/>
              <a:t>resource-latency trade-off</a:t>
            </a:r>
            <a:r>
              <a:t> of parallel MLD.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11. Resource and Storage Comparison</a:t>
            </a:r>
          </a:p>
        </p:txBody>
      </p:sp>
      <p:pic>
        <p:nvPicPr>
          <p:cNvPr id="3" name="Picture 1" descr="figure/utilization_comparis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7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Key message</a:t>
            </a:r>
          </a:p>
          <a:p>
            <a:pPr lvl="0"/>
            <a:r>
              <a:rPr b="1"/>
              <a:t>2NRM-Parallel</a:t>
            </a:r>
            <a:r>
              <a:t> achieves high speed at the highest LUT/FF and power cost.</a:t>
            </a:r>
          </a:p>
          <a:p>
            <a:pPr lvl="0"/>
            <a:r>
              <a:rPr b="1"/>
              <a:t>2NRM</a:t>
            </a:r>
            <a:r>
              <a:t> is the most storage-efficient option, while </a:t>
            </a:r>
            <a:r>
              <a:rPr b="1"/>
              <a:t>C-RRNS-MLD</a:t>
            </a:r>
            <a:r>
              <a:t> gives the strongest protection.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12. Main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Major conclusions from the dissertation</a:t>
            </a:r>
          </a:p>
          <a:p>
            <a:pPr marL="342900" lvl="0" indent="-342900">
              <a:buAutoNum type="arabicPeriod"/>
            </a:pPr>
            <a:r>
              <a:t>The project successfully delivers a </a:t>
            </a:r>
            <a:r>
              <a:rPr b="1"/>
              <a:t>working FPGA benchmarking platform</a:t>
            </a:r>
            <a:r>
              <a:t> for ECC evaluation under cluster faults.</a:t>
            </a:r>
          </a:p>
          <a:p>
            <a:pPr marL="342900" lvl="0" indent="-342900">
              <a:buAutoNum type="arabicPeriod"/>
            </a:pPr>
            <a:r>
              <a:rPr b="1"/>
              <a:t>C-RRNS-MLD</a:t>
            </a:r>
            <a:r>
              <a:t> shows the strongest burst-fault tolerance in the explored design space.</a:t>
            </a:r>
          </a:p>
          <a:p>
            <a:pPr marL="342900" lvl="0" indent="-342900">
              <a:buAutoNum type="arabicPeriod"/>
            </a:pPr>
            <a:r>
              <a:rPr b="1"/>
              <a:t>2NRM-RRNS Parallel</a:t>
            </a:r>
            <a:r>
              <a:t> offers the lowest decode latency, but its area and power cost are high.</a:t>
            </a:r>
          </a:p>
          <a:p>
            <a:pPr marL="342900" lvl="0" indent="-342900">
              <a:buAutoNum type="arabicPeriod"/>
            </a:pPr>
            <a:r>
              <a:rPr b="1"/>
              <a:t>2NRM-RRNS</a:t>
            </a:r>
            <a:r>
              <a:t> provides the best storage efficiency for overhead-sensitive systems.</a:t>
            </a:r>
          </a:p>
          <a:p>
            <a:pPr marL="342900" lvl="0" indent="-342900">
              <a:buAutoNum type="arabicPeriod"/>
            </a:pPr>
            <a:r>
              <a:t>The close agreement between FPGA and MATLAB results confirms the </a:t>
            </a:r>
            <a:r>
              <a:rPr b="1"/>
              <a:t>correctness and reliability</a:t>
            </a:r>
            <a:r>
              <a:t> of the evaluation method.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13. Contributions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Contributions</a:t>
            </a:r>
          </a:p>
          <a:p>
            <a:pPr lvl="0"/>
            <a:r>
              <a:t>A reusable FPGA evaluation platform with unified wrappers.</a:t>
            </a:r>
          </a:p>
          <a:p>
            <a:pPr lvl="0"/>
            <a:r>
              <a:t>A low-resource probabilistic fault injection engine.</a:t>
            </a:r>
          </a:p>
          <a:p>
            <a:pPr lvl="0"/>
            <a:r>
              <a:t>The first hardware-level quantification of the </a:t>
            </a:r>
            <a:r>
              <a:rPr b="1"/>
              <a:t>parallel vs serial 2NRM-RRNS trade-off</a:t>
            </a:r>
            <a:r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Future work</a:t>
            </a:r>
          </a:p>
          <a:p>
            <a:pPr lvl="0"/>
            <a:r>
              <a:t>evaluate wider data words and more ECC variants</a:t>
            </a:r>
          </a:p>
          <a:p>
            <a:pPr lvl="0"/>
            <a:r>
              <a:t>reduce LFSR correlation with stronger random sources</a:t>
            </a:r>
          </a:p>
          <a:p>
            <a:pPr lvl="0"/>
            <a:r>
              <a:t>migrate the framework toward ASIC or real hybrid memory devices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 A. Fault Injection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Probabilistic injection procedure</a:t>
            </a:r>
          </a:p>
          <a:p>
            <a:pPr marL="342900" lvl="0" indent="-342900">
              <a:buAutoNum type="arabicPeriod"/>
            </a:pPr>
            <a:r>
              <a:t>Generate encoded codeword.</a:t>
            </a:r>
          </a:p>
          <a:p>
            <a:pPr marL="342900" lvl="0" indent="-342900">
              <a:buAutoNum type="arabicPeriod"/>
            </a:pPr>
            <a:r>
              <a:t>Lock one random seed for the full BER sweep.</a:t>
            </a:r>
          </a:p>
          <a:p>
            <a:pPr marL="342900" lvl="0" indent="-342900">
              <a:buAutoNum type="arabicPeriod"/>
            </a:pPr>
            <a:r>
              <a:t>For each BER point, compute the injection threshold.</a:t>
            </a:r>
          </a:p>
          <a:p>
            <a:pPr marL="342900" lvl="0" indent="-342900">
              <a:buAutoNum type="arabicPeriod"/>
            </a:pPr>
            <a:r>
              <a:t>Use the 32-bit Galois LFSR to decide whether to inject an error.</a:t>
            </a:r>
          </a:p>
          <a:p>
            <a:pPr marL="342900" lvl="0" indent="-342900">
              <a:buAutoNum type="arabicPeriod"/>
            </a:pPr>
            <a:r>
              <a:t>If random mode is selected, test valid bits independently.</a:t>
            </a:r>
          </a:p>
          <a:p>
            <a:pPr marL="342900" lvl="0" indent="-342900">
              <a:buAutoNum type="arabicPeriod"/>
            </a:pPr>
            <a:r>
              <a:t>If burst mode is selected, apply one ROM-based contiguous burst mask.</a:t>
            </a:r>
          </a:p>
          <a:p>
            <a:pPr marL="342900" lvl="0" indent="-342900">
              <a:buAutoNum type="arabicPeriod"/>
            </a:pPr>
            <a:r>
              <a:t>Decode and compare with the original data to record pass or fail.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marL="0" lvl="0" indent="0">
              <a:buNone/>
            </a:pPr>
            <a:r>
              <a:t>This appendix shows that the fault injector is not a simple random flip unit, but a </a:t>
            </a:r>
            <a:r>
              <a:rPr b="1"/>
              <a:t>controlled and reproducible hardware evaluation algorithm</a:t>
            </a:r>
            <a: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Appendix B. Backup Figure: Burst-Length Impact</a:t>
            </a:r>
          </a:p>
        </p:txBody>
      </p:sp>
      <p:pic>
        <p:nvPicPr>
          <p:cNvPr id="3" name="Picture 1" descr="figure/cluster_length_impact_C_RRNS_MLD_20260328_19383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 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Backup message</a:t>
            </a:r>
          </a:p>
          <a:p>
            <a:pPr marL="0" lvl="0" indent="0">
              <a:buNone/>
            </a:pPr>
            <a:r>
              <a:t>These curves support the final claim that </a:t>
            </a:r>
            <a:r>
              <a:rPr b="1"/>
              <a:t>C-RRNS-MLD</a:t>
            </a:r>
            <a:r>
              <a:t> provides the best extreme cluster-fault tolerance, with </a:t>
            </a:r>
            <a:r>
              <a:rPr b="1"/>
              <a:t>RS</a:t>
            </a:r>
            <a:r>
              <a:t> as the strongest balanced alternative.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marL="0" lvl="0" indent="0">
              <a:buNone/>
            </a:pPr>
            <a:r>
              <a:t>Thank you for listening.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Office PowerPoint</Application>
  <PresentationFormat>全屏显示(16:9)</PresentationFormat>
  <Paragraphs>135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Hardware Acceleration for Cluster Fault Tolerance in Hybrid CMOS/non-CMOS Memories</vt:lpstr>
      <vt:lpstr>1. Motivation and Problem</vt:lpstr>
      <vt:lpstr>2. Project Goal and Objectives</vt:lpstr>
      <vt:lpstr>4. FPGA Platform Architecture</vt:lpstr>
      <vt:lpstr>PowerPoint 演示文稿</vt:lpstr>
      <vt:lpstr>5. Main Innovation: Probabilistic Fault Injection Engine</vt:lpstr>
      <vt:lpstr>6. Why the Test Platform Is Strong</vt:lpstr>
      <vt:lpstr>7. Random Single-Bit Results</vt:lpstr>
      <vt:lpstr>PowerPoint 演示文稿</vt:lpstr>
      <vt:lpstr>8. Cluster Burst Results at Representative Length L=12</vt:lpstr>
      <vt:lpstr>PowerPoint 演示文稿</vt:lpstr>
      <vt:lpstr>PowerPoint 演示文稿</vt:lpstr>
      <vt:lpstr>PowerPoint 演示文稿</vt:lpstr>
      <vt:lpstr>10. Latency Comparison</vt:lpstr>
      <vt:lpstr>PowerPoint 演示文稿</vt:lpstr>
      <vt:lpstr>11. Resource and Storage Comparison</vt:lpstr>
      <vt:lpstr>PowerPoint 演示文稿</vt:lpstr>
      <vt:lpstr>12. Main Conclusions</vt:lpstr>
      <vt:lpstr>13. Contributions and Future Work</vt:lpstr>
      <vt:lpstr>Appendix A. Fault Injection Algorithm</vt:lpstr>
      <vt:lpstr>Appendix B. Backup Figure: Burst-Length Impact</vt:lpstr>
      <vt:lpstr>PowerPoint 演示文稿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Acceleration for Cluster Fault Tolerance in Hybrid CMOS/non-CMOS Memories</dc:title>
  <dc:creator>Yuqi Guo</dc:creator>
  <cp:keywords/>
  <cp:lastModifiedBy>dongsheng guo</cp:lastModifiedBy>
  <cp:revision>1</cp:revision>
  <dcterms:created xsi:type="dcterms:W3CDTF">2026-04-14T00:36:02Z</dcterms:created>
  <dcterms:modified xsi:type="dcterms:W3CDTF">2026-04-14T01:14:02Z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fontsize">
    <vt:lpwstr>11pt</vt:lpwstr>
  </property>
  <property fmtid="{D5CDD505-2E9C-101B-9397-08002B2CF9AE}" pid="4" name="header-includes">
    <vt:lpwstr/>
  </property>
  <property fmtid="{D5CDD505-2E9C-101B-9397-08002B2CF9AE}" pid="5" name="subtitle">
    <vt:lpwstr>Dissertation Defence</vt:lpwstr>
  </property>
</Properties>
</file>