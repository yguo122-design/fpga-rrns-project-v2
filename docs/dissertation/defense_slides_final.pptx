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6" Type="http://schemas.openxmlformats.org/officeDocument/2006/relationships/viewProps" Target="viewProps.xml" /><Relationship Id="rId2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8" Type="http://schemas.openxmlformats.org/officeDocument/2006/relationships/tableStyles" Target="tableStyles.xml" /><Relationship Id="rId2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Hardware Acceleration for Cluster Fault Tolerance in Hybrid CMOS/non-CMOS Memories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Dissertation Defence</a:t>
            </a:r>
            <a:br/>
            <a:br/>
            <a:r>
              <a:rPr/>
              <a:t>Yuqi Guo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May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Motivation and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this project matters</a:t>
            </a:r>
          </a:p>
          <a:p>
            <a:pPr lvl="0"/>
            <a:r>
              <a:rPr/>
              <a:t>Hybrid CMOS/non-CMOS memories offer high density and low cost, but they are vulnerable to </a:t>
            </a:r>
            <a:r>
              <a:rPr b="1"/>
              <a:t>spatially correlated cluster faults</a:t>
            </a:r>
            <a:r>
              <a:rPr/>
              <a:t>.</a:t>
            </a:r>
          </a:p>
          <a:p>
            <a:pPr lvl="0"/>
            <a:r>
              <a:rPr/>
              <a:t>Traditional ECC schemes are often evaluated for </a:t>
            </a:r>
            <a:r>
              <a:rPr b="1"/>
              <a:t>independent random errors</a:t>
            </a:r>
            <a:r>
              <a:rPr/>
              <a:t>, not realistic burst faults.</a:t>
            </a:r>
          </a:p>
          <a:p>
            <a:pPr lvl="0"/>
            <a:r>
              <a:rPr/>
              <a:t>Previous studies mainly relied on simulation; </a:t>
            </a:r>
            <a:r>
              <a:rPr b="1"/>
              <a:t>hardware-validated comparison</a:t>
            </a:r>
            <a:r>
              <a:rPr/>
              <a:t> was still missing.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Core research question</a:t>
            </a:r>
          </a:p>
          <a:p>
            <a:pPr lvl="0" indent="0" marL="0">
              <a:buNone/>
            </a:pPr>
            <a:r>
              <a:rPr b="1"/>
              <a:t>Which ECC design gives the best trade-off between fault tolerance, latency, area, power, and storage efficiency on real FPGA hardware?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Project Goal and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Project goal</a:t>
            </a:r>
          </a:p>
          <a:p>
            <a:pPr lvl="0" indent="0" marL="0">
              <a:buNone/>
            </a:pPr>
            <a:r>
              <a:rPr/>
              <a:t>To design and implement an </a:t>
            </a:r>
            <a:r>
              <a:rPr b="1"/>
              <a:t>FPGA-based hardware acceleration platform</a:t>
            </a:r>
            <a:r>
              <a:rPr/>
              <a:t> for fair benchmarking of multiple ECC algorithms under realistic cluster-fault conditions.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 indent="-342900" marL="342900">
              <a:buAutoNum type="arabicPeriod"/>
            </a:pPr>
            <a:r>
              <a:rPr/>
              <a:t>Implement and compare </a:t>
            </a:r>
            <a:r>
              <a:rPr b="1"/>
              <a:t>6 configurations</a:t>
            </a:r>
            <a:r>
              <a:rPr/>
              <a:t>:</a:t>
            </a:r>
          </a:p>
          <a:p>
            <a:pPr lvl="1"/>
            <a:r>
              <a:rPr/>
              <a:t>2NRM-RRNS Parallel</a:t>
            </a:r>
          </a:p>
          <a:p>
            <a:pPr lvl="1"/>
            <a:r>
              <a:rPr/>
              <a:t>2NRM-RRNS Serial</a:t>
            </a:r>
          </a:p>
          <a:p>
            <a:pPr lvl="1"/>
            <a:r>
              <a:rPr/>
              <a:t>3NRM-RRNS</a:t>
            </a:r>
          </a:p>
          <a:p>
            <a:pPr lvl="1"/>
            <a:r>
              <a:rPr/>
              <a:t>C-RRNS-MLD</a:t>
            </a:r>
          </a:p>
          <a:p>
            <a:pPr lvl="1"/>
            <a:r>
              <a:rPr/>
              <a:t>C-RRNS-MRC</a:t>
            </a:r>
          </a:p>
          <a:p>
            <a:pPr lvl="1"/>
            <a:r>
              <a:rPr/>
              <a:t>RS(12,4)</a:t>
            </a:r>
          </a:p>
          <a:p>
            <a:pPr lvl="0" indent="-342900" marL="342900">
              <a:buAutoNum type="arabicPeriod"/>
            </a:pPr>
            <a:r>
              <a:rPr/>
              <a:t>Evaluate four key dimensions:</a:t>
            </a:r>
          </a:p>
          <a:p>
            <a:pPr lvl="1"/>
            <a:r>
              <a:rPr/>
              <a:t>fault tolerance</a:t>
            </a:r>
          </a:p>
          <a:p>
            <a:pPr lvl="1"/>
            <a:r>
              <a:rPr/>
              <a:t>decoding latency</a:t>
            </a:r>
          </a:p>
          <a:p>
            <a:pPr lvl="1"/>
            <a:r>
              <a:rPr/>
              <a:t>FPGA resource and power cost</a:t>
            </a:r>
          </a:p>
          <a:p>
            <a:pPr lvl="1"/>
            <a:r>
              <a:rPr/>
              <a:t>storage efficiency # 3. Methodology and Experimental Setup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Evaluation flow</a:t>
            </a:r>
          </a:p>
          <a:p>
            <a:pPr lvl="0"/>
            <a:r>
              <a:rPr b="1"/>
              <a:t>Phase 1</a:t>
            </a:r>
            <a:r>
              <a:rPr/>
              <a:t>: MATLAB simulation for theoretical baseline.</a:t>
            </a:r>
          </a:p>
          <a:p>
            <a:pPr lvl="0"/>
            <a:r>
              <a:rPr b="1"/>
              <a:t>Phase 2</a:t>
            </a:r>
            <a:r>
              <a:rPr/>
              <a:t>: FPGA implementation for hardware validation.</a:t>
            </a:r>
          </a:p>
          <a:p>
            <a:pPr lvl="0"/>
            <a:r>
              <a:rPr/>
              <a:t>Same encode-inject-decode-compare loop is used for every configuration.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Test settings</a:t>
            </a:r>
          </a:p>
          <a:p>
            <a:pPr lvl="0"/>
            <a:r>
              <a:rPr/>
              <a:t>Device: </a:t>
            </a:r>
            <a:r>
              <a:rPr b="1"/>
              <a:t>Artix-7 xc7a100t (Arty A7-100T)</a:t>
            </a:r>
          </a:p>
          <a:p>
            <a:pPr lvl="0"/>
            <a:r>
              <a:rPr/>
              <a:t>Clock: </a:t>
            </a:r>
            <a:r>
              <a:rPr b="1"/>
              <a:t>50 MHz</a:t>
            </a:r>
          </a:p>
          <a:p>
            <a:pPr lvl="0"/>
            <a:r>
              <a:rPr/>
              <a:t>Fault modes:</a:t>
            </a:r>
          </a:p>
          <a:p>
            <a:pPr lvl="1"/>
            <a:r>
              <a:rPr/>
              <a:t>random single-bit injection</a:t>
            </a:r>
          </a:p>
          <a:p>
            <a:pPr lvl="1"/>
            <a:r>
              <a:rPr/>
              <a:t>cluster burst injection with burst length 1-15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 FPGA Platform Architecture</a:t>
            </a:r>
          </a:p>
        </p:txBody>
      </p:sp>
      <p:pic>
        <p:nvPicPr>
          <p:cNvPr descr="figure/system_architecture.drawiov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479800" y="1193800"/>
            <a:ext cx="2171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idea</a:t>
            </a:r>
          </a:p>
          <a:p>
            <a:pPr lvl="0" indent="0" marL="0">
              <a:buNone/>
            </a:pPr>
            <a:r>
              <a:rPr/>
              <a:t>The PC controls configuration and visualisation, while the FPGA autonomously performs the full BER sweep and uploads consolidated results through UART.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Main Innovation: Probabilistic Fault Injection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features</a:t>
            </a:r>
          </a:p>
          <a:p>
            <a:pPr lvl="0"/>
            <a:r>
              <a:rPr/>
              <a:t>Uses a </a:t>
            </a:r>
            <a:r>
              <a:rPr b="1"/>
              <a:t>32-bit Galois LFSR</a:t>
            </a:r>
            <a:r>
              <a:rPr/>
              <a:t> as the pseudo-random source.</a:t>
            </a:r>
          </a:p>
          <a:p>
            <a:pPr lvl="0"/>
            <a:r>
              <a:rPr/>
              <a:t>Supports both </a:t>
            </a:r>
            <a:r>
              <a:rPr b="1"/>
              <a:t>random single-bit</a:t>
            </a:r>
            <a:r>
              <a:rPr/>
              <a:t> and </a:t>
            </a:r>
            <a:r>
              <a:rPr b="1"/>
              <a:t>cluster burst</a:t>
            </a:r>
            <a:r>
              <a:rPr/>
              <a:t> injection.</a:t>
            </a:r>
          </a:p>
          <a:p>
            <a:pPr lvl="0"/>
            <a:r>
              <a:rPr/>
              <a:t>BER is controlled by threshold comparison instead of a fixed schedule.</a:t>
            </a:r>
          </a:p>
          <a:p>
            <a:pPr lvl="0"/>
            <a:r>
              <a:rPr/>
              <a:t>Boundary-safe burst masks are precomputed offline and stored in ROM.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Why it matters</a:t>
            </a:r>
          </a:p>
          <a:p>
            <a:pPr lvl="0" indent="0" marL="0">
              <a:buNone/>
            </a:pPr>
            <a:r>
              <a:rPr/>
              <a:t>This makes the platform </a:t>
            </a:r>
            <a:r>
              <a:rPr b="1"/>
              <a:t>resource-efficient, reproducible, and reusable</a:t>
            </a:r>
            <a:r>
              <a:rPr/>
              <a:t> for benchmarking different ECC algorithms.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 Why the Test Platform Is Strong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Advantages of the proposed FPGA test platform</a:t>
            </a:r>
          </a:p>
          <a:p>
            <a:pPr lvl="0"/>
            <a:r>
              <a:rPr b="1"/>
              <a:t>Fair comparison</a:t>
            </a:r>
            <a:r>
              <a:rPr/>
              <a:t>: all algorithms share the same test infrastructure and clock condition.</a:t>
            </a:r>
          </a:p>
          <a:p>
            <a:pPr lvl="0"/>
            <a:r>
              <a:rPr b="1"/>
              <a:t>Hardware validated</a:t>
            </a:r>
            <a:r>
              <a:rPr/>
              <a:t>: results are measured on a Xilinx Artix-7 FPGA, not simulation alone.</a:t>
            </a:r>
          </a:p>
          <a:p>
            <a:pPr lvl="0"/>
            <a:r>
              <a:rPr b="1"/>
              <a:t>Low overhead fault injection</a:t>
            </a:r>
            <a:r>
              <a:rPr/>
              <a:t>: the probabilistic injector uses only </a:t>
            </a:r>
            <a:r>
              <a:rPr b="1"/>
              <a:t>two BRAMs</a:t>
            </a:r>
            <a:r>
              <a:rPr/>
              <a:t>.</a:t>
            </a:r>
          </a:p>
          <a:p>
            <a:pPr lvl="0"/>
            <a:r>
              <a:rPr b="1"/>
              <a:t>Scalable experiments</a:t>
            </a:r>
            <a:r>
              <a:rPr/>
              <a:t>: supports </a:t>
            </a:r>
            <a:r>
              <a:rPr b="1"/>
              <a:t>101 BER points</a:t>
            </a:r>
            <a:r>
              <a:rPr/>
              <a:t> from 0% to 10% and </a:t>
            </a:r>
            <a:r>
              <a:rPr b="1"/>
              <a:t>100,000 samples per point</a:t>
            </a:r>
            <a:r>
              <a:rPr/>
              <a:t>.</a:t>
            </a:r>
          </a:p>
          <a:p>
            <a:pPr lvl="0"/>
            <a:r>
              <a:rPr b="1"/>
              <a:t>Extensible architecture</a:t>
            </a:r>
            <a:r>
              <a:rPr/>
              <a:t>: new ECCs can be added with the wrapper interface.</a:t>
            </a:r>
          </a:p>
          <a:p>
            <a:pPr lvl="0"/>
            <a:r>
              <a:rPr b="1"/>
              <a:t>Cross-validated</a:t>
            </a:r>
            <a:r>
              <a:rPr/>
              <a:t>: FPGA curves closely match MATLAB results, increasing credibility.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 Random Single-Bit Results</a:t>
            </a:r>
          </a:p>
        </p:txBody>
      </p:sp>
      <p:pic>
        <p:nvPicPr>
          <p:cNvPr descr="figure/fpga_vs_matlab_random_single_bit_20260407_15515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38300" y="1193800"/>
            <a:ext cx="5867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Main observation</a:t>
            </a:r>
          </a:p>
          <a:p>
            <a:pPr lvl="0"/>
            <a:r>
              <a:rPr/>
              <a:t>FPGA and MATLAB curves show </a:t>
            </a:r>
            <a:r>
              <a:rPr b="1"/>
              <a:t>close agreement</a:t>
            </a:r>
            <a:r>
              <a:rPr/>
              <a:t>.</a:t>
            </a:r>
          </a:p>
          <a:p>
            <a:pPr lvl="0"/>
            <a:r>
              <a:rPr/>
              <a:t>Correcting ECCs remain strong at low BER, while </a:t>
            </a:r>
            <a:r>
              <a:rPr b="1"/>
              <a:t>C-RRNS-MRC</a:t>
            </a:r>
            <a:r>
              <a:rPr/>
              <a:t> drops fastest.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 Cluster Burst Results at Representative Length L=12</a:t>
            </a:r>
          </a:p>
        </p:txBody>
      </p:sp>
      <p:pic>
        <p:nvPicPr>
          <p:cNvPr descr="figure/fpga_vs_matlab_cluster_burst_len12_20260407_15515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38300" y="1193800"/>
            <a:ext cx="5867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Main observation</a:t>
            </a:r>
          </a:p>
          <a:p>
            <a:pPr lvl="0"/>
            <a:r>
              <a:rPr b="1"/>
              <a:t>C-RRNS-MLD</a:t>
            </a:r>
            <a:r>
              <a:rPr/>
              <a:t> and </a:t>
            </a:r>
            <a:r>
              <a:rPr b="1"/>
              <a:t>RS(12,4)</a:t>
            </a:r>
            <a:r>
              <a:rPr/>
              <a:t> show the strongest burst resilience.</a:t>
            </a:r>
          </a:p>
          <a:p>
            <a:pPr lvl="0"/>
            <a:r>
              <a:rPr/>
              <a:t>Burst-fault ranking differs from random-bit testing, showing why a realistic fault model is necessary.</a:t>
            </a:r>
          </a:p>
        </p:txBody>
      </p:sp>
    </p:spTree>
  </p:cSld>
</p:sld>
</file>

<file path=ppt/slides/slide12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 /><p:txBody><a:bodyPr /><a:lstStyle /><a:p><a:pPr lvl="0" indent="0" marL="0"><a:buNone /></a:pPr><a:r><a:rPr /><a:t>9. Quantitative Comparison of Key Results</a:t></a:r></a:p></p:txBody></p:sp><p:graphicFrame><p:nvGraphicFramePr><p:cNvPr id="6" name="Content Placeholder 5" /><p:cNvGraphicFramePr><a:graphicFrameLocks noGrp="1" /></p:cNvGraphicFramePr><p:nvPr><p:ph idx="1" /></p:nvPr></p:nvGraphicFramePr><p:xfrm><a:off x="457200" y="1193800" /><a:ext cx="8229600" cy="3390900" /></p:xfrm><a:graphic><a:graphicData uri="http://schemas.openxmlformats.org/drawingml/2006/table"><a:tbl><a:tblPr firstRow="1" bandRow="1"><a:tableStyleId>{5C22544A-7EE6-4342-B048-85BDC9FD1C3A}</a:tableStyleId></a:tblPr><a:tblGrid><a:gridCol w="2057400" /><a:gridCol w="2057400" /><a:gridCol w="2057400" /><a:gridCol w="2057400" /></a:tblGrid><a:tr h="0"><a:tc><a:txBody><a:bodyPr /><a:lstStyle /><a:p><a:pPr lvl="0" indent="0" marL="0" algn="l"><a:buNone /></a:pPr><a:r><a:rPr /><a:t>Algo</a:t></a:r></a:p></a:txBody><a:tcPr /></a:tc><a:tc><a:txBody><a:bodyPr /><a:lstStyle /><a:p><a:pPr lvl="0" indent="0" marL="0" algn="ctr"><a:buNone /></a:pPr><a:r><a:rPr /><a:t>Burst </a:t></a:r><a14:m><m:oMath xmlns:m="http://schemas.openxmlformats.org/officeDocument/2006/math"><m:sSub><m:e><m:r><m:t>L</m:t></m:r></m:e><m:sub><m:r><m:t>m</m:t></m:r><m:r><m:t>a</m:t></m:r><m:r><m:t>x</m:t></m:r></m:sub></m:sSub></m:oMath></a14:m></a:p></a:txBody><a:tcPr /></a:tc><a:tc><a:txBody><a:bodyPr /><a:lstStyle /><a:p><a:pPr lvl="0" indent="0" marL="0" algn="ctr"><a:buNone /></a:pPr><a:r><a:rPr /><a:t>Dec. cycles</a:t></a:r></a:p></a:txBody><a:tcPr /></a:tc><a:tc><a:txBody><a:bodyPr /><a:lstStyle /><a:p><a:pPr lvl="0" indent="0" marL="0" algn="ctr"><a:buNone /></a:pPr><a:r><a:rPr /><a:t>Efficiency</a:t></a:r></a:p></a:txBody><a:tcPr /></a:tc></a:tr><a:tr h="0"><a:tc><a:txBody><a:bodyPr /><a:lstStyle /><a:p><a:pPr lvl="0" indent="0" marL="0" algn="l"><a:buNone /></a:pPr><a:r><a:rPr /><a:t>C-RRNS-MLD</a:t></a:r></a:p></a:txBody></a:tc><a:tc><a:txBody><a:bodyPr /><a:lstStyle /><a:p><a:pPr lvl="0" indent="0" marL="0" algn="ctr"><a:buNone /></a:pPr><a:r><a:rPr b="1" /><a:t>14</a:t></a:r></a:p></a:txBody></a:tc><a:tc><a:txBody><a:bodyPr /><a:lstStyle /><a:p><a:pPr lvl="0" indent="0" marL="0" algn="ctr"><a:buNone /></a:pPr><a:r><a:rPr /><a:t>928</a:t></a:r></a:p></a:txBody></a:tc><a:tc><a:txBody><a:bodyPr /><a:lstStyle /><a:p><a:pPr lvl="0" indent="0" marL="0" algn="ctr"><a:buNone /></a:pPr><a:r><a:rPr /><a:t>26.2%</a:t></a:r></a:p></a:txBody></a:tc></a:tr><a:tr h="0"><a:tc><a:txBody><a:bodyPr /><a:lstStyle /><a:p><a:pPr lvl="0" indent="0" marL="0" algn="l"><a:buNone /></a:pPr><a:r><a:rPr /><a:t>RS(12,4)</a:t></a:r></a:p></a:txBody></a:tc><a:tc><a:txBody><a:bodyPr /><a:lstStyle /><a:p><a:pPr lvl="0" indent="0" marL="0" algn="ctr"><a:buNone /></a:pPr><a:r><a:rPr /><a:t>13</a:t></a:r></a:p></a:txBody></a:tc><a:tc><a:txBody><a:bodyPr /><a:lstStyle /><a:p><a:pPr lvl="0" indent="0" marL="0" algn="ctr"><a:buNone /></a:pPr><a:r><a:rPr /><a:t>127</a:t></a:r></a:p></a:txBody></a:tc><a:tc><a:txBody><a:bodyPr /><a:lstStyle /><a:p><a:pPr lvl="0" indent="0" marL="0" algn="ctr"><a:buNone /></a:pPr><a:r><a:rPr /><a:t>33.3%</a:t></a:r></a:p></a:txBody></a:tc></a:tr><a:tr h="0"><a:tc><a:txBody><a:bodyPr /><a:lstStyle /><a:p><a:pPr lvl="0" indent="0" marL="0" algn="l"><a:buNone /></a:pPr><a:r><a:rPr /><a:t>3NRM-RRNS</a:t></a:r></a:p></a:txBody></a:tc><a:tc><a:txBody><a:bodyPr /><a:lstStyle /><a:p><a:pPr lvl="0" indent="0" marL="0" algn="ctr"><a:buNone /></a:pPr><a:r><a:rPr /><a:t>11</a:t></a:r></a:p></a:txBody></a:tc><a:tc><a:txBody><a:bodyPr /><a:lstStyle /><a:p><a:pPr lvl="0" indent="0" marL="0" algn="ctr"><a:buNone /></a:pPr><a:r><a:rPr /><a:t>2048</a:t></a:r></a:p></a:txBody></a:tc><a:tc><a:txBody><a:bodyPr /><a:lstStyle /><a:p><a:pPr lvl="0" indent="0" marL="0" algn="ctr"><a:buNone /></a:pPr><a:r><a:rPr /><a:t>33.3%</a:t></a:r></a:p></a:txBody></a:tc></a:tr><a:tr h="0"><a:tc><a:txBody><a:bodyPr /><a:lstStyle /><a:p><a:pPr lvl="0" indent="0" marL="0" algn="l"><a:buNone /></a:pPr><a:r><a:rPr /><a:t>2NRM-P</a:t></a:r></a:p></a:txBody></a:tc><a:tc><a:txBody><a:bodyPr /><a:lstStyle /><a:p><a:pPr lvl="0" indent="0" marL="0" algn="ctr"><a:buNone /></a:pPr><a:r><a:rPr /><a:t>8</a:t></a:r></a:p></a:txBody></a:tc><a:tc><a:txBody><a:bodyPr /><a:lstStyle /><a:p><a:pPr lvl="0" indent="0" marL="0" algn="ctr"><a:buNone /></a:pPr><a:r><a:rPr b="1" /><a:t>24</a:t></a:r></a:p></a:txBody></a:tc><a:tc><a:txBody><a:bodyPr /><a:lstStyle /><a:p><a:pPr lvl="0" indent="0" marL="0" algn="ctr"><a:buNone /></a:pPr><a:r><a:rPr b="1" /><a:t>39.0%</a:t></a:r></a:p></a:txBody></a:tc></a:tr><a:tr h="0"><a:tc><a:txBody><a:bodyPr /><a:lstStyle /><a:p><a:pPr lvl="0" indent="0" marL="0" algn="l"><a:buNone /></a:pPr><a:r><a:rPr /><a:t>2NRM-S</a:t></a:r></a:p></a:txBody></a:tc><a:tc><a:txBody><a:bodyPr /><a:lstStyle /><a:p><a:pPr lvl="0" indent="0" marL="0" algn="ctr"><a:buNone /></a:pPr><a:r><a:rPr /><a:t>7</a:t></a:r></a:p></a:txBody></a:tc><a:tc><a:txBody><a:bodyPr /><a:lstStyle /><a:p><a:pPr lvl="0" indent="0" marL="0" algn="ctr"><a:buNone /></a:pPr><a:r><a:rPr /><a:t>1047</a:t></a:r></a:p></a:txBody></a:tc><a:tc><a:txBody><a:bodyPr /><a:lstStyle /><a:p><a:pPr lvl="0" indent="0" marL="0" algn="ctr"><a:buNone /></a:pPr><a:r><a:rPr b="1" /><a:t>39.0%</a:t></a:r></a:p></a:txBody></a:tc></a:tr></a:tbl></a:graphicData></a:graphic></p:graphicFrame></p:spTree></p:cSld>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Takeaway</a:t>
            </a:r>
          </a:p>
          <a:p>
            <a:pPr lvl="0"/>
            <a:r>
              <a:rPr b="1"/>
              <a:t>Most reliable</a:t>
            </a:r>
            <a:r>
              <a:rPr/>
              <a:t>: C-RRNS-MLD</a:t>
            </a:r>
          </a:p>
          <a:p>
            <a:pPr lvl="0"/>
            <a:r>
              <a:rPr b="1"/>
              <a:t>Fastest</a:t>
            </a:r>
            <a:r>
              <a:rPr/>
              <a:t>: 2NRM-P</a:t>
            </a:r>
          </a:p>
          <a:p>
            <a:pPr lvl="0"/>
            <a:r>
              <a:rPr b="1"/>
              <a:t>Most compact</a:t>
            </a:r>
            <a:r>
              <a:rPr/>
              <a:t>: 2NRM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 Latency Comparison</a:t>
            </a:r>
          </a:p>
        </p:txBody>
      </p:sp>
      <p:pic>
        <p:nvPicPr>
          <p:cNvPr descr="figure/latency_comparis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97000" y="1193800"/>
            <a:ext cx="6362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Conclusion from latency results</a:t>
            </a:r>
          </a:p>
          <a:p>
            <a:pPr lvl="0"/>
            <a:r>
              <a:rPr/>
              <a:t>The </a:t>
            </a:r>
            <a:r>
              <a:rPr b="1"/>
              <a:t>2NRM-RRNS Parallel</a:t>
            </a:r>
            <a:r>
              <a:rPr/>
              <a:t> decoder is the fastest correcting design.</a:t>
            </a:r>
          </a:p>
          <a:p>
            <a:pPr lvl="0"/>
            <a:r>
              <a:rPr/>
              <a:t>The parallel implementation achieves a major acceleration over the serial version.</a:t>
            </a:r>
          </a:p>
          <a:p>
            <a:pPr lvl="0"/>
            <a:r>
              <a:rPr/>
              <a:t>The result clearly exposes the </a:t>
            </a:r>
            <a:r>
              <a:rPr b="1"/>
              <a:t>resource-latency trade-off</a:t>
            </a:r>
            <a:r>
              <a:rPr/>
              <a:t> of parallel MLD.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 Resource and Storage Comparison</a:t>
            </a:r>
          </a:p>
        </p:txBody>
      </p:sp>
      <p:pic>
        <p:nvPicPr>
          <p:cNvPr descr="figure/utilization_comparis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84300" y="1193800"/>
            <a:ext cx="6375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message</a:t>
            </a:r>
          </a:p>
          <a:p>
            <a:pPr lvl="0"/>
            <a:r>
              <a:rPr b="1"/>
              <a:t>2NRM-Parallel</a:t>
            </a:r>
            <a:r>
              <a:rPr/>
              <a:t> achieves high speed at the highest LUT/FF and power cost.</a:t>
            </a:r>
          </a:p>
          <a:p>
            <a:pPr lvl="0"/>
            <a:r>
              <a:rPr b="1"/>
              <a:t>2NRM</a:t>
            </a:r>
            <a:r>
              <a:rPr/>
              <a:t> is the most storage-efficient option, while </a:t>
            </a:r>
            <a:r>
              <a:rPr b="1"/>
              <a:t>C-RRNS-MLD</a:t>
            </a:r>
            <a:r>
              <a:rPr/>
              <a:t> gives the strongest protection.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12. Main 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Major conclusions from the dissertation</a:t>
            </a:r>
          </a:p>
          <a:p>
            <a:pPr lvl="0" indent="-342900" marL="342900">
              <a:buAutoNum type="arabicPeriod"/>
            </a:pPr>
            <a:r>
              <a:rPr/>
              <a:t>The project successfully delivers a </a:t>
            </a:r>
            <a:r>
              <a:rPr b="1"/>
              <a:t>working FPGA benchmarking platform</a:t>
            </a:r>
            <a:r>
              <a:rPr/>
              <a:t> for ECC evaluation under cluster faults.</a:t>
            </a:r>
          </a:p>
          <a:p>
            <a:pPr lvl="0" indent="-342900" marL="342900">
              <a:buAutoNum type="arabicPeriod"/>
            </a:pPr>
            <a:r>
              <a:rPr b="1"/>
              <a:t>C-RRNS-MLD</a:t>
            </a:r>
            <a:r>
              <a:rPr/>
              <a:t> shows the strongest burst-fault tolerance in the explored design space.</a:t>
            </a:r>
          </a:p>
          <a:p>
            <a:pPr lvl="0" indent="-342900" marL="342900">
              <a:buAutoNum type="arabicPeriod"/>
            </a:pPr>
            <a:r>
              <a:rPr b="1"/>
              <a:t>2NRM-RRNS Parallel</a:t>
            </a:r>
            <a:r>
              <a:rPr/>
              <a:t> offers the lowest decode latency, but its area and power cost are high.</a:t>
            </a:r>
          </a:p>
          <a:p>
            <a:pPr lvl="0" indent="-342900" marL="342900">
              <a:buAutoNum type="arabicPeriod"/>
            </a:pPr>
            <a:r>
              <a:rPr b="1"/>
              <a:t>2NRM-RRNS</a:t>
            </a:r>
            <a:r>
              <a:rPr/>
              <a:t> provides the best storage efficiency for overhead-sensitive systems.</a:t>
            </a:r>
          </a:p>
          <a:p>
            <a:pPr lvl="0" indent="-342900" marL="342900">
              <a:buAutoNum type="arabicPeriod"/>
            </a:pPr>
            <a:r>
              <a:rPr/>
              <a:t>The close agreement between FPGA and MATLAB results confirms the </a:t>
            </a:r>
            <a:r>
              <a:rPr b="1"/>
              <a:t>correctness and reliability</a:t>
            </a:r>
            <a:r>
              <a:rPr/>
              <a:t> of the evaluation method.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13. Contributions and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Contributions</a:t>
            </a:r>
          </a:p>
          <a:p>
            <a:pPr lvl="0"/>
            <a:r>
              <a:rPr/>
              <a:t>A reusable FPGA evaluation platform with unified wrappers.</a:t>
            </a:r>
          </a:p>
          <a:p>
            <a:pPr lvl="0"/>
            <a:r>
              <a:rPr/>
              <a:t>A low-resource probabilistic fault injection engine.</a:t>
            </a:r>
          </a:p>
          <a:p>
            <a:pPr lvl="0"/>
            <a:r>
              <a:rPr/>
              <a:t>The first hardware-level quantification of the </a:t>
            </a:r>
            <a:r>
              <a:rPr b="1"/>
              <a:t>parallel vs serial 2NRM-RRNS trade-off</a:t>
            </a:r>
            <a:r>
              <a:rPr/>
              <a:t>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Future work</a:t>
            </a:r>
          </a:p>
          <a:p>
            <a:pPr lvl="0"/>
            <a:r>
              <a:rPr/>
              <a:t>evaluate wider data words and more ECC variants</a:t>
            </a:r>
          </a:p>
          <a:p>
            <a:pPr lvl="0"/>
            <a:r>
              <a:rPr/>
              <a:t>reduce LFSR correlation with stronger random sources</a:t>
            </a:r>
          </a:p>
          <a:p>
            <a:pPr lvl="0"/>
            <a:r>
              <a:rPr/>
              <a:t>migrate the framework toward ASIC or real hybrid memory devices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Appendix A. Fault Injection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Probabilistic injection procedure</a:t>
            </a:r>
          </a:p>
          <a:p>
            <a:pPr lvl="0" indent="-342900" marL="342900">
              <a:buAutoNum type="arabicPeriod"/>
            </a:pPr>
            <a:r>
              <a:rPr/>
              <a:t>Generate encoded codeword.</a:t>
            </a:r>
          </a:p>
          <a:p>
            <a:pPr lvl="0" indent="-342900" marL="342900">
              <a:buAutoNum type="arabicPeriod"/>
            </a:pPr>
            <a:r>
              <a:rPr/>
              <a:t>Lock one random seed for the full BER sweep.</a:t>
            </a:r>
          </a:p>
          <a:p>
            <a:pPr lvl="0" indent="-342900" marL="342900">
              <a:buAutoNum type="arabicPeriod"/>
            </a:pPr>
            <a:r>
              <a:rPr/>
              <a:t>For each BER point, compute the injection threshold.</a:t>
            </a:r>
          </a:p>
          <a:p>
            <a:pPr lvl="0" indent="-342900" marL="342900">
              <a:buAutoNum type="arabicPeriod"/>
            </a:pPr>
            <a:r>
              <a:rPr/>
              <a:t>Use the 32-bit Galois LFSR to decide whether to inject an error.</a:t>
            </a:r>
          </a:p>
          <a:p>
            <a:pPr lvl="0" indent="-342900" marL="342900">
              <a:buAutoNum type="arabicPeriod"/>
            </a:pPr>
            <a:r>
              <a:rPr/>
              <a:t>If random mode is selected, test valid bits independently.</a:t>
            </a:r>
          </a:p>
          <a:p>
            <a:pPr lvl="0" indent="-342900" marL="342900">
              <a:buAutoNum type="arabicPeriod"/>
            </a:pPr>
            <a:r>
              <a:rPr/>
              <a:t>If burst mode is selected, apply one ROM-based contiguous burst mask.</a:t>
            </a:r>
          </a:p>
          <a:p>
            <a:pPr lvl="0" indent="-342900" marL="342900">
              <a:buAutoNum type="arabicPeriod"/>
            </a:pPr>
            <a:r>
              <a:rPr/>
              <a:t>Decode and compare with the original data to record pass or fail.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Purpose</a:t>
            </a:r>
          </a:p>
          <a:p>
            <a:pPr lvl="0" indent="0" marL="0">
              <a:buNone/>
            </a:pPr>
            <a:r>
              <a:rPr/>
              <a:t>This appendix shows that the fault injector is not a simple random flip unit, but a </a:t>
            </a:r>
            <a:r>
              <a:rPr b="1"/>
              <a:t>controlled and reproducible hardware evaluation algorithm</a:t>
            </a:r>
            <a:r>
              <a:rPr/>
              <a:t>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Appendix B. Backup Figure: Burst-Length Impact</a:t>
            </a:r>
          </a:p>
        </p:txBody>
      </p:sp>
      <p:pic>
        <p:nvPicPr>
          <p:cNvPr descr="figure/cluster_length_impact_C_RRNS_MLD_20260328_19383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79600" y="1193800"/>
            <a:ext cx="5384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 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Backup message</a:t>
            </a:r>
          </a:p>
          <a:p>
            <a:pPr lvl="0" indent="0" marL="0">
              <a:buNone/>
            </a:pPr>
            <a:r>
              <a:rPr/>
              <a:t>These curves support the final claim that </a:t>
            </a:r>
            <a:r>
              <a:rPr b="1"/>
              <a:t>C-RRNS-MLD</a:t>
            </a:r>
            <a:r>
              <a:rPr/>
              <a:t> provides the best extreme cluster-fault tolerance, with </a:t>
            </a:r>
            <a:r>
              <a:rPr b="1"/>
              <a:t>RS</a:t>
            </a:r>
            <a:r>
              <a:rPr/>
              <a:t> as the strongest balanced alternative.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Questions?</a:t>
            </a:r>
          </a:p>
          <a:p>
            <a:pPr lvl="0" indent="0" marL="0">
              <a:buNone/>
            </a:pPr>
            <a:r>
              <a:rPr/>
              <a:t>Thank you for listening.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Hardware Acceleration for Cluster Fault Tolerance in Hybrid CMOS/non-CMOS Memories</dc:title>
  <dc:creator>Yuqi Guo</dc:creator>
  <cp:keywords/>
  <dcterms:created xsi:type="dcterms:W3CDTF">2026-04-14T00:36:02Z</dcterms:created>
  <dcterms:modified xsi:type="dcterms:W3CDTF">2026-04-14T00:36:02Z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May 2026</vt:lpwstr>
  </property>
  <property fmtid="{D5CDD505-2E9C-101B-9397-08002B2CF9AE}" pid="3" name="fontsize">
    <vt:lpwstr>11pt</vt:lpwstr>
  </property>
  <property fmtid="{D5CDD505-2E9C-101B-9397-08002B2CF9AE}" pid="4" name="header-includes">
    <vt:lpwstr/>
  </property>
  <property fmtid="{D5CDD505-2E9C-101B-9397-08002B2CF9AE}" pid="5" name="subtitle">
    <vt:lpwstr>Dissertation Defence</vt:lpwstr>
  </property>
</Properties>
</file>